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ew from inside a stone structure, looking out toward stairs and a clear, blue sky"/>
          <p:cNvSpPr/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 modern white building with glass panels against a clear, blue sky"/>
          <p:cNvSpPr/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Small section of a modern shell bridge in Qingdao, Shandong, China with a partly cloudy sky above"/>
          <p:cNvSpPr/>
          <p:nvPr>
            <p:ph type="pic" idx="22"/>
          </p:nvPr>
        </p:nvSpPr>
        <p:spPr>
          <a:xfrm>
            <a:off x="9271000" y="1263848"/>
            <a:ext cx="16773843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Low angle exterior view of a modern building facade covered with aluminum discs under a clear, blue sky"/>
          <p:cNvSpPr/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ow angle view of a modern, curved building under a cloudy sky"/>
          <p:cNvSpPr/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View from inside a modern white building with glass panels, looking up to a bright, partly cloudy sky"/>
          <p:cNvSpPr/>
          <p:nvPr>
            <p:ph type="pic" idx="23"/>
          </p:nvPr>
        </p:nvSpPr>
        <p:spPr>
          <a:xfrm>
            <a:off x="-124635" y="1270000"/>
            <a:ext cx="16840169" cy="11243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Low angle view of the Azadi Tower in Tehran, Iran against a clear, bright sky"/>
          <p:cNvSpPr/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oojitha Jayareddygari…"/>
          <p:cNvSpPr txBox="1"/>
          <p:nvPr>
            <p:ph type="body" idx="21"/>
          </p:nvPr>
        </p:nvSpPr>
        <p:spPr>
          <a:xfrm>
            <a:off x="905217" y="10102116"/>
            <a:ext cx="22267126" cy="239472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defTabSz="685165">
              <a:defRPr sz="2988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Poojitha Jayareddygari</a:t>
            </a:r>
          </a:p>
          <a:p>
            <a:pPr defTabSz="685165">
              <a:defRPr sz="2988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Sahit Ceeka</a:t>
            </a:r>
          </a:p>
          <a:p>
            <a:pPr defTabSz="685165">
              <a:defRPr sz="2988">
                <a:latin typeface="Times Roman"/>
                <a:ea typeface="Times Roman"/>
                <a:cs typeface="Times Roman"/>
                <a:sym typeface="Times Roman"/>
              </a:defRPr>
            </a:pPr>
            <a:r>
              <a:t>Jeevith Doddalingegowda Rama</a:t>
            </a:r>
          </a:p>
          <a:p>
            <a:pPr defTabSz="685165">
              <a:defRPr sz="2988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Sai Kiran Jogini</a:t>
            </a:r>
            <a:endParaRPr>
              <a:solidFill>
                <a:srgbClr val="273540"/>
              </a:solidFill>
            </a:endParaRPr>
          </a:p>
          <a:p>
            <a:pPr defTabSz="685165">
              <a:defRPr sz="2988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solidFill>
                  <a:srgbClr val="273540"/>
                </a:solidFill>
              </a:rPr>
              <a:t>Navya Reddy Thadisana</a:t>
            </a:r>
          </a:p>
        </p:txBody>
      </p:sp>
      <p:sp>
        <p:nvSpPr>
          <p:cNvPr id="172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Weekly Check-In Presentation</a:t>
            </a:r>
          </a:p>
          <a:p>
            <a:pPr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US Airline Flight Delay Dataset</a:t>
            </a:r>
          </a:p>
        </p:txBody>
      </p:sp>
      <p:sp>
        <p:nvSpPr>
          <p:cNvPr id="173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Cloud Computing Project – Fall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itle 1"/>
          <p:cNvSpPr txBox="1"/>
          <p:nvPr>
            <p:ph type="ctrTitle"/>
          </p:nvPr>
        </p:nvSpPr>
        <p:spPr>
          <a:xfrm>
            <a:off x="999560" y="1129939"/>
            <a:ext cx="21971004" cy="3334101"/>
          </a:xfrm>
          <a:prstGeom prst="rect">
            <a:avLst/>
          </a:prstGeom>
        </p:spPr>
        <p:txBody>
          <a:bodyPr/>
          <a:lstStyle>
            <a:lvl1pPr>
              <a:defRPr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Progress Update: Laying the Foundation</a:t>
            </a:r>
          </a:p>
        </p:txBody>
      </p:sp>
      <p:sp>
        <p:nvSpPr>
          <p:cNvPr id="176" name="Content Placeholder 2"/>
          <p:cNvSpPr txBox="1"/>
          <p:nvPr>
            <p:ph type="subTitle" idx="1"/>
          </p:nvPr>
        </p:nvSpPr>
        <p:spPr>
          <a:xfrm>
            <a:off x="1201342" y="4598898"/>
            <a:ext cx="21971001" cy="8345292"/>
          </a:xfrm>
          <a:prstGeom prst="rect">
            <a:avLst/>
          </a:prstGeom>
        </p:spPr>
        <p:txBody>
          <a:bodyPr/>
          <a:lstStyle/>
          <a:p>
            <a:pPr defTabSz="457200">
              <a:spcBef>
                <a:spcPts val="1200"/>
              </a:spcBef>
              <a:defRPr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Team Formation</a:t>
            </a:r>
            <a:endParaRPr b="0"/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b="0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Our group finalized roles to ensure balanced responsibilities and efficiency.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Each member is assigned to one of the core areas: </a:t>
            </a:r>
            <a:r>
              <a:t>Data Ingestion, SQL Analytics, Streaming, Machine Learning, and Documentation</a:t>
            </a:r>
            <a:r>
              <a:rPr b="0"/>
              <a:t>.</a:t>
            </a:r>
            <a:endParaRPr b="0"/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b="0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structure guarantees coverage across the full Spark project pipeline and creates accountability.</a:t>
            </a:r>
          </a:p>
          <a:p>
            <a:pPr defTabSz="457200">
              <a:spcBef>
                <a:spcPts val="1200"/>
              </a:spcBef>
              <a:defRPr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GitHub Repository</a:t>
            </a:r>
            <a:endParaRPr b="0"/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b="0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We created a </a:t>
            </a:r>
            <a:r>
              <a:rPr b="1"/>
              <a:t>private GitHub repository</a:t>
            </a:r>
            <a:r>
              <a:t> as our central collaboration hub.</a:t>
            </a:r>
          </a:p>
          <a:p>
            <a:pPr defTabSz="457200">
              <a:spcBef>
                <a:spcPts val="1200"/>
              </a:spcBef>
              <a:defRPr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Dataset Selection</a:t>
            </a:r>
            <a:endParaRPr b="0"/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We selected the </a:t>
            </a:r>
            <a:r>
              <a:t>US Airline Flight Delay &amp; Cancellation Dataset (2019–2023)</a:t>
            </a:r>
            <a:r>
              <a:rPr b="0"/>
              <a:t> from Kaggle/BTS.</a:t>
            </a:r>
            <a:endParaRPr b="0"/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b="0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 includes ~3M–29M records, covering flight details, delays, cancellations, and causes.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b="0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dataset aligns well with Spark SQL, MLlib, and Structured Streaming because of its </a:t>
            </a:r>
            <a:r>
              <a:rPr b="1"/>
              <a:t>large scale, time-series nature, and predictive potential</a:t>
            </a:r>
            <a:r>
              <a:t>.</a:t>
            </a:r>
          </a:p>
          <a:p>
            <a:pPr defTabSz="457200">
              <a:spcBef>
                <a:spcPts val="1200"/>
              </a:spcBef>
              <a:defRPr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Technical Setup</a:t>
            </a:r>
            <a:endParaRPr b="0"/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b="0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 Spark environment has been prepared locally (and configured for scalability if needed).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b="0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We validated that Spark can read sample airline CSV files into DataFrames with defined schemas.</a:t>
            </a:r>
          </a:p>
          <a:p>
            <a:pPr marL="457200" indent="-317500" defTabSz="457200">
              <a:spcBef>
                <a:spcPts val="1200"/>
              </a:spcBef>
              <a:buSzPct val="100000"/>
              <a:buFont typeface="Times Roman"/>
              <a:buChar char="•"/>
              <a:defRPr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The setup ensures we can move forward with </a:t>
            </a:r>
            <a:r>
              <a:t>cleaning, partitioning, and streaming simulation</a:t>
            </a:r>
            <a:r>
              <a:rPr b="0"/>
              <a:t> of flight events.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itle 1"/>
          <p:cNvSpPr txBox="1"/>
          <p:nvPr>
            <p:ph type="ctrTitle"/>
          </p:nvPr>
        </p:nvSpPr>
        <p:spPr>
          <a:xfrm>
            <a:off x="1206498" y="1150576"/>
            <a:ext cx="21971004" cy="1905001"/>
          </a:xfrm>
          <a:prstGeom prst="rect">
            <a:avLst/>
          </a:prstGeom>
        </p:spPr>
        <p:txBody>
          <a:bodyPr/>
          <a:lstStyle>
            <a:lvl1pPr>
              <a:defRPr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Dataset Overview</a:t>
            </a:r>
          </a:p>
        </p:txBody>
      </p:sp>
      <p:sp>
        <p:nvSpPr>
          <p:cNvPr id="179" name="Content Placeholder 2"/>
          <p:cNvSpPr txBox="1"/>
          <p:nvPr>
            <p:ph type="subTitle" idx="1"/>
          </p:nvPr>
        </p:nvSpPr>
        <p:spPr>
          <a:xfrm>
            <a:off x="1201342" y="3190940"/>
            <a:ext cx="21971001" cy="9668371"/>
          </a:xfrm>
          <a:prstGeom prst="rect">
            <a:avLst/>
          </a:prstGeom>
        </p:spPr>
        <p:txBody>
          <a:bodyPr/>
          <a:lstStyle/>
          <a:p>
            <a:pPr marL="342899" indent="-342899" defTabSz="457200">
              <a:spcBef>
                <a:spcPts val="700"/>
              </a:spcBef>
              <a:buSzPct val="100000"/>
              <a:buFont typeface="Arial"/>
              <a:buChar char="•"/>
              <a:defRPr b="0" sz="4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Source: U.S. Bureau of Transportation Statistics (BTS) On-Time Performance. Kaggle mirror (2019–2023) in CSV/Parquet formats</a:t>
            </a:r>
          </a:p>
          <a:p>
            <a:pPr marL="342899" indent="-342899" defTabSz="457200">
              <a:spcBef>
                <a:spcPts val="700"/>
              </a:spcBef>
              <a:buSzPct val="100000"/>
              <a:buFont typeface="Arial"/>
              <a:buChar char="•"/>
              <a:defRPr b="0" sz="4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342899" indent="-342899" defTabSz="457200">
              <a:spcBef>
                <a:spcPts val="700"/>
              </a:spcBef>
              <a:buSzPct val="100000"/>
              <a:buFont typeface="Arial"/>
              <a:buChar char="•"/>
              <a:defRPr b="0" sz="4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Size: ~3M to 29M rows depending on subset size. Large enough to demonstrate Spark’s scalability</a:t>
            </a:r>
          </a:p>
          <a:p>
            <a:pPr marL="342899" indent="-342899" defTabSz="457200">
              <a:spcBef>
                <a:spcPts val="700"/>
              </a:spcBef>
              <a:buSzPct val="100000"/>
              <a:buFont typeface="Arial"/>
              <a:buChar char="•"/>
              <a:defRPr b="0" sz="4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342899" indent="-342899" defTabSz="457200">
              <a:spcBef>
                <a:spcPts val="700"/>
              </a:spcBef>
              <a:buSzPct val="100000"/>
              <a:buFont typeface="Arial"/>
              <a:buChar char="•"/>
              <a:defRPr b="0" sz="4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Key Fields:</a:t>
            </a:r>
          </a:p>
          <a:p>
            <a:pPr marL="342899" indent="-342899" defTabSz="457200">
              <a:spcBef>
                <a:spcPts val="700"/>
              </a:spcBef>
              <a:buSzPct val="100000"/>
              <a:buFont typeface="Arial"/>
              <a:buChar char="•"/>
              <a:defRPr b="0" sz="4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- Flight date, airline, flight number, origin &amp; destination</a:t>
            </a:r>
          </a:p>
          <a:p>
            <a:pPr marL="342899" indent="-342899" defTabSz="457200">
              <a:spcBef>
                <a:spcPts val="700"/>
              </a:spcBef>
              <a:buSzPct val="100000"/>
              <a:buFont typeface="Arial"/>
              <a:buChar char="•"/>
              <a:defRPr b="0" sz="4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- Scheduled &amp; actual departure/arrival times</a:t>
            </a:r>
          </a:p>
          <a:p>
            <a:pPr marL="342899" indent="-342899" defTabSz="457200">
              <a:spcBef>
                <a:spcPts val="700"/>
              </a:spcBef>
              <a:buSzPct val="100000"/>
              <a:buFont typeface="Arial"/>
              <a:buChar char="•"/>
              <a:defRPr b="0" sz="4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- Departure/arrival delays (mins), cancellations, diversions</a:t>
            </a:r>
          </a:p>
          <a:p>
            <a:pPr marL="342899" indent="-342899" defTabSz="457200">
              <a:spcBef>
                <a:spcPts val="700"/>
              </a:spcBef>
              <a:buSzPct val="100000"/>
              <a:buFont typeface="Arial"/>
              <a:buChar char="•"/>
              <a:defRPr b="0" sz="4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- Delay causes: carrier, weather, NAS, late aircraft, security</a:t>
            </a:r>
          </a:p>
          <a:p>
            <a:pPr marL="342899" indent="-342899" defTabSz="457200">
              <a:spcBef>
                <a:spcPts val="700"/>
              </a:spcBef>
              <a:buSzPct val="100000"/>
              <a:buFont typeface="Arial"/>
              <a:buChar char="•"/>
              <a:defRPr b="0" sz="4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342899" indent="-342899" defTabSz="457200">
              <a:spcBef>
                <a:spcPts val="700"/>
              </a:spcBef>
              <a:buSzPct val="100000"/>
              <a:buFont typeface="Arial"/>
              <a:buChar char="•"/>
              <a:defRPr b="0" sz="4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Characteristics: Structured, high-volume, time-series dataset. Mix of categorical and numeric features. Event-time fields suitable for streaming simulation.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itle 1"/>
          <p:cNvSpPr txBox="1"/>
          <p:nvPr>
            <p:ph type="ctrTitle"/>
          </p:nvPr>
        </p:nvSpPr>
        <p:spPr>
          <a:xfrm>
            <a:off x="1206498" y="792493"/>
            <a:ext cx="21971004" cy="2078880"/>
          </a:xfrm>
          <a:prstGeom prst="rect">
            <a:avLst/>
          </a:prstGeom>
        </p:spPr>
        <p:txBody>
          <a:bodyPr/>
          <a:lstStyle>
            <a:lvl1pPr>
              <a:defRPr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Why This Dataset?</a:t>
            </a:r>
          </a:p>
        </p:txBody>
      </p:sp>
      <p:sp>
        <p:nvSpPr>
          <p:cNvPr id="182" name="Content Placeholder 2"/>
          <p:cNvSpPr txBox="1"/>
          <p:nvPr>
            <p:ph type="subTitle" idx="1"/>
          </p:nvPr>
        </p:nvSpPr>
        <p:spPr>
          <a:xfrm>
            <a:off x="1201342" y="3261366"/>
            <a:ext cx="21971001" cy="8687448"/>
          </a:xfrm>
          <a:prstGeom prst="rect">
            <a:avLst/>
          </a:prstGeom>
        </p:spPr>
        <p:txBody>
          <a:bodyPr/>
          <a:lstStyle/>
          <a:p>
            <a:pPr defTabSz="457200">
              <a:spcBef>
                <a:spcPts val="1200"/>
              </a:spcBef>
              <a:defRPr b="0" sz="3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Scalable for Spark</a:t>
            </a:r>
            <a:br/>
            <a:r>
              <a:t>Handles millions of rows (3M–29M), which showcases the power of distributed processing.</a:t>
            </a:r>
          </a:p>
          <a:p>
            <a:pPr defTabSz="457200">
              <a:spcBef>
                <a:spcPts val="1200"/>
              </a:spcBef>
              <a:defRPr b="0" sz="38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spcBef>
                <a:spcPts val="1200"/>
              </a:spcBef>
              <a:defRPr b="0" sz="3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Rich Predictive Potential</a:t>
            </a:r>
            <a:br/>
            <a:r>
              <a:t>Provides targets for both regression (delay minutes) and classification (risk of 15+ minute delay or cancellations).</a:t>
            </a:r>
          </a:p>
          <a:p>
            <a:pPr defTabSz="457200">
              <a:spcBef>
                <a:spcPts val="1200"/>
              </a:spcBef>
              <a:defRPr b="0" sz="38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spcBef>
                <a:spcPts val="1200"/>
              </a:spcBef>
              <a:defRPr b="0" sz="3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Streaming Suitability</a:t>
            </a:r>
            <a:br/>
            <a:r>
              <a:t>Flight events are naturally timestamped, allowing us to replay them in order and simulate real-time streams.</a:t>
            </a:r>
          </a:p>
          <a:p>
            <a:pPr defTabSz="457200">
              <a:spcBef>
                <a:spcPts val="1200"/>
              </a:spcBef>
              <a:defRPr b="0" sz="38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spcBef>
                <a:spcPts val="1200"/>
              </a:spcBef>
              <a:defRPr b="0" sz="3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Actionable Analytics</a:t>
            </a:r>
            <a:br/>
            <a:r>
              <a:t>Supports the creation of airport dashboards, live monitoring of delays, and proactive risk alerts for operations.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itle 1"/>
          <p:cNvSpPr txBox="1"/>
          <p:nvPr>
            <p:ph type="ctrTitle"/>
          </p:nvPr>
        </p:nvSpPr>
        <p:spPr>
          <a:xfrm>
            <a:off x="1545530" y="859411"/>
            <a:ext cx="21971004" cy="1735656"/>
          </a:xfrm>
          <a:prstGeom prst="rect">
            <a:avLst/>
          </a:prstGeom>
        </p:spPr>
        <p:txBody>
          <a:bodyPr/>
          <a:lstStyle>
            <a:lvl1pPr algn="ctr" defTabSz="2243271">
              <a:defRPr spc="-213" sz="10672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Current Challenges and Blockers</a:t>
            </a:r>
          </a:p>
        </p:txBody>
      </p:sp>
      <p:graphicFrame>
        <p:nvGraphicFramePr>
          <p:cNvPr id="185" name="Table 1"/>
          <p:cNvGraphicFramePr/>
          <p:nvPr/>
        </p:nvGraphicFramePr>
        <p:xfrm>
          <a:off x="1551882" y="3095430"/>
          <a:ext cx="21971001" cy="1012057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7319433"/>
                <a:gridCol w="7319433"/>
                <a:gridCol w="7319433"/>
              </a:tblGrid>
              <a:tr h="864637">
                <a:tc>
                  <a:txBody>
                    <a:bodyPr/>
                    <a:lstStyle/>
                    <a:p>
                      <a:pPr defTabSz="457200">
                        <a:defRPr b="0"/>
                      </a:pPr>
                      <a:r>
                        <a:rPr b="1" sz="4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Data Quality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b="0"/>
                      </a:pPr>
                      <a:r>
                        <a:rPr b="1" sz="4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Performance Risks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457200">
                        <a:defRPr b="0"/>
                      </a:pPr>
                      <a:r>
                        <a:rPr b="1" sz="40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Baseline Model Uncertainty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3081077"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Delay Cause Fields: Many records are missing or marked as null, making it harder to analyze root causes (weather, carrier, NAS, etc.).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Heavy Spark Shuffles: Aggregations by airport, route, and time can generate large shuffle operations that slow down queries. Without partitioning and optimized joins, EDA and model training may become inefficient.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35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Need Simple Benchmarks: Before testing advanced MLlib models, we must define baseline predictors (e.g., always predict mean delay, or classify everything as “on-time”).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3081077"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Cancelled Flights: For flights that never departed, fields like actual departure/arrival times are zero or inconsistent, which requires careful filtering.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Data Skew: Certain airports (ATL, ORD, DFW) dominate the dataset; imbalance in partitions could overload specific workers.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35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Unclear Thresholds: Acceptable performance metrics are not finalized. We need to decide target ranges (e.g., RMSE ≤ 10 minutes for regression; PR-AUC ≥ 0.7 for classification).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3081077"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Time Normalization: Scheduled and actual times are in local airport times; converting to a consistent reference (e.g., UTC) is essential for correct comparisons and streaming order.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Class Imbalance: About 70–80% of flights arrive on time or with small delays, while only a fraction are delayed 15+ minutes or cancelled.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35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Temporal Validation: Standard random splits may leak future knowledge; we must confirm a time-based split strategy for realistic evaluation.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itle 1"/>
          <p:cNvSpPr txBox="1"/>
          <p:nvPr>
            <p:ph type="ctrTitle"/>
          </p:nvPr>
        </p:nvSpPr>
        <p:spPr>
          <a:xfrm>
            <a:off x="1206498" y="874270"/>
            <a:ext cx="21971004" cy="1709104"/>
          </a:xfrm>
          <a:prstGeom prst="rect">
            <a:avLst/>
          </a:prstGeom>
        </p:spPr>
        <p:txBody>
          <a:bodyPr/>
          <a:lstStyle>
            <a:lvl1pPr algn="ctr" defTabSz="2218888">
              <a:defRPr spc="-211" sz="10556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Solutions</a:t>
            </a:r>
          </a:p>
        </p:txBody>
      </p:sp>
      <p:sp>
        <p:nvSpPr>
          <p:cNvPr id="188" name="Content Placeholder 2"/>
          <p:cNvSpPr txBox="1"/>
          <p:nvPr>
            <p:ph type="subTitle" idx="1"/>
          </p:nvPr>
        </p:nvSpPr>
        <p:spPr>
          <a:xfrm>
            <a:off x="1206500" y="2452326"/>
            <a:ext cx="21971000" cy="10189502"/>
          </a:xfrm>
          <a:prstGeom prst="rect">
            <a:avLst/>
          </a:prstGeom>
        </p:spPr>
        <p:txBody>
          <a:bodyPr/>
          <a:lstStyle/>
          <a:p>
            <a:pPr defTabSz="356615">
              <a:spcBef>
                <a:spcPts val="900"/>
              </a:spcBef>
              <a:defRPr sz="2964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1. Data Quality</a:t>
            </a:r>
            <a:endParaRPr b="0"/>
          </a:p>
          <a:p>
            <a:pPr marL="356615" indent="-247650" defTabSz="356615">
              <a:spcBef>
                <a:spcPts val="900"/>
              </a:spcBef>
              <a:buSzPct val="100000"/>
              <a:buFont typeface="Times Roman"/>
              <a:buChar char="•"/>
              <a:defRPr b="0" sz="2964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Time Normalization</a:t>
            </a:r>
            <a:r>
              <a:t>: Standardize scheduled and actual departure/arrival times into a consistent format (e.g., UTC) to avoid timezone misalignment.</a:t>
            </a:r>
          </a:p>
          <a:p>
            <a:pPr marL="356615" indent="-247650" defTabSz="356615">
              <a:spcBef>
                <a:spcPts val="900"/>
              </a:spcBef>
              <a:buSzPct val="100000"/>
              <a:buFont typeface="Times Roman"/>
              <a:buChar char="•"/>
              <a:defRPr b="0" sz="2964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Missing Delay Causes</a:t>
            </a:r>
            <a:r>
              <a:t>: For flights with null values, label them as </a:t>
            </a:r>
            <a:r>
              <a:rPr b="1"/>
              <a:t>“Unknown”</a:t>
            </a:r>
            <a:r>
              <a:t> to preserve record count, or impute based on similar flights (same route, time of year, carrier).</a:t>
            </a:r>
          </a:p>
          <a:p>
            <a:pPr marL="356615" indent="-247650" defTabSz="356615">
              <a:spcBef>
                <a:spcPts val="900"/>
              </a:spcBef>
              <a:buSzPct val="100000"/>
              <a:buFont typeface="Times Roman"/>
              <a:buChar char="•"/>
              <a:defRPr b="0" sz="2964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Schema Validation</a:t>
            </a:r>
            <a:r>
              <a:t>: Define an explicit Spark schema to catch invalid or inconsistent records early in the ingestion process.</a:t>
            </a:r>
          </a:p>
          <a:p>
            <a:pPr defTabSz="356615">
              <a:spcBef>
                <a:spcPts val="900"/>
              </a:spcBef>
              <a:defRPr sz="2964">
                <a:latin typeface="Times Roman"/>
                <a:ea typeface="Times Roman"/>
                <a:cs typeface="Times Roman"/>
                <a:sym typeface="Times Roman"/>
              </a:defRPr>
            </a:pPr>
            <a:r>
              <a:t>2. Performance Optimization</a:t>
            </a:r>
            <a:endParaRPr b="0"/>
          </a:p>
          <a:p>
            <a:pPr marL="356615" indent="-247650" defTabSz="356615">
              <a:spcBef>
                <a:spcPts val="900"/>
              </a:spcBef>
              <a:buSzPct val="100000"/>
              <a:buFont typeface="Times Roman"/>
              <a:buChar char="•"/>
              <a:defRPr b="0" sz="2964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Partitioning</a:t>
            </a:r>
            <a:r>
              <a:t>: Organize data by </a:t>
            </a:r>
            <a:r>
              <a:rPr b="1"/>
              <a:t>year/month</a:t>
            </a:r>
            <a:r>
              <a:t> and </a:t>
            </a:r>
            <a:r>
              <a:rPr b="1"/>
              <a:t>origin airport</a:t>
            </a:r>
            <a:r>
              <a:t> to reduce shuffle overhead during aggregations and queries.</a:t>
            </a:r>
          </a:p>
          <a:p>
            <a:pPr marL="356615" indent="-247650" defTabSz="356615">
              <a:spcBef>
                <a:spcPts val="900"/>
              </a:spcBef>
              <a:buSzPct val="100000"/>
              <a:buFont typeface="Times Roman"/>
              <a:buChar char="•"/>
              <a:defRPr b="0" sz="2964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Efficient Joins</a:t>
            </a:r>
            <a:r>
              <a:t>: Use </a:t>
            </a:r>
            <a:r>
              <a:rPr b="1"/>
              <a:t>broadcast joins</a:t>
            </a:r>
            <a:r>
              <a:t> for small tables like airline codes or airport metadata, avoiding large distributed joins.</a:t>
            </a:r>
          </a:p>
          <a:p>
            <a:pPr marL="356615" indent="-247650" defTabSz="356615">
              <a:spcBef>
                <a:spcPts val="900"/>
              </a:spcBef>
              <a:buSzPct val="100000"/>
              <a:buFont typeface="Times Roman"/>
              <a:buChar char="•"/>
              <a:defRPr b="0" sz="2964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Caching &amp; Checkpointing</a:t>
            </a:r>
            <a:r>
              <a:t>: Cache frequently reused DataFrames (e.g., cleaned flights) and checkpoint streaming queries to speed up repeated operations.</a:t>
            </a:r>
          </a:p>
          <a:p>
            <a:pPr marL="356615" indent="-247650" defTabSz="356615">
              <a:spcBef>
                <a:spcPts val="900"/>
              </a:spcBef>
              <a:buSzPct val="100000"/>
              <a:buFont typeface="Times Roman"/>
              <a:buChar char="•"/>
              <a:defRPr b="0" sz="2964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Handling Data Skew</a:t>
            </a:r>
            <a:r>
              <a:t>: Apply salting or repartitioning strategies for busy hubs (ATL, ORD, DFW) to balance workloads across Spark executors.</a:t>
            </a:r>
          </a:p>
          <a:p>
            <a:pPr defTabSz="356615">
              <a:spcBef>
                <a:spcPts val="900"/>
              </a:spcBef>
              <a:defRPr sz="2964">
                <a:latin typeface="Times Roman"/>
                <a:ea typeface="Times Roman"/>
                <a:cs typeface="Times Roman"/>
                <a:sym typeface="Times Roman"/>
              </a:defRPr>
            </a:pPr>
            <a:r>
              <a:t>3. Establishing Model Baselines</a:t>
            </a:r>
            <a:endParaRPr b="0"/>
          </a:p>
          <a:p>
            <a:pPr marL="356615" indent="-247650" defTabSz="356615">
              <a:spcBef>
                <a:spcPts val="900"/>
              </a:spcBef>
              <a:buSzPct val="100000"/>
              <a:buFont typeface="Times Roman"/>
              <a:buChar char="•"/>
              <a:defRPr b="0" sz="2964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Regression Baseline</a:t>
            </a:r>
            <a:r>
              <a:t>: Always predict the mean departure delay to establish a reference RMSE/MAE.</a:t>
            </a:r>
          </a:p>
          <a:p>
            <a:pPr marL="356615" indent="-247650" defTabSz="356615">
              <a:spcBef>
                <a:spcPts val="900"/>
              </a:spcBef>
              <a:buSzPct val="100000"/>
              <a:buFont typeface="Times Roman"/>
              <a:buChar char="•"/>
              <a:defRPr b="0" sz="2964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Classification Baseline</a:t>
            </a:r>
            <a:r>
              <a:t>: Always predict the majority class (on-time) to set a benchmark for PR-AUC and F1.</a:t>
            </a:r>
          </a:p>
          <a:p>
            <a:pPr marL="356615" indent="-247650" defTabSz="356615">
              <a:spcBef>
                <a:spcPts val="900"/>
              </a:spcBef>
              <a:buSzPct val="100000"/>
              <a:buFont typeface="Times Roman"/>
              <a:buChar char="•"/>
              <a:defRPr b="0" sz="2964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MLlib Models</a:t>
            </a:r>
            <a:r>
              <a:t>: Compare Logistic Regression, Random Forest, and Gradient Boosted Trees against these baselines. Only adopt advanced models if they significantly outperform benchmarks.</a:t>
            </a:r>
          </a:p>
          <a:p>
            <a:pPr marL="356615" indent="-247650" defTabSz="356615">
              <a:spcBef>
                <a:spcPts val="900"/>
              </a:spcBef>
              <a:buSzPct val="100000"/>
              <a:buFont typeface="Times Roman"/>
              <a:buChar char="•"/>
              <a:defRPr b="0" sz="2964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Evaluation Plan</a:t>
            </a:r>
            <a:r>
              <a:t>: Use </a:t>
            </a:r>
            <a:r>
              <a:rPr b="1"/>
              <a:t>time-based splits</a:t>
            </a:r>
            <a:r>
              <a:t> (e.g., train on 2019–2022, test on 2023) to mimic real-world forecasting and prevent data leakage.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itle 1"/>
          <p:cNvSpPr txBox="1"/>
          <p:nvPr>
            <p:ph type="ctrTitle"/>
          </p:nvPr>
        </p:nvSpPr>
        <p:spPr>
          <a:xfrm>
            <a:off x="1206498" y="479670"/>
            <a:ext cx="21971004" cy="3226287"/>
          </a:xfrm>
          <a:prstGeom prst="rect">
            <a:avLst/>
          </a:prstGeom>
        </p:spPr>
        <p:txBody>
          <a:bodyPr/>
          <a:lstStyle>
            <a:lvl1pPr algn="ctr">
              <a:defRPr spc="-226" sz="113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Next Week’s Focus: Data Ingestion &amp; EDA</a:t>
            </a:r>
          </a:p>
        </p:txBody>
      </p:sp>
      <p:sp>
        <p:nvSpPr>
          <p:cNvPr id="191" name="Content Placeholder 2"/>
          <p:cNvSpPr txBox="1"/>
          <p:nvPr>
            <p:ph type="subTitle" idx="1"/>
          </p:nvPr>
        </p:nvSpPr>
        <p:spPr>
          <a:xfrm>
            <a:off x="1201342" y="3651450"/>
            <a:ext cx="21971001" cy="8995830"/>
          </a:xfrm>
          <a:prstGeom prst="rect">
            <a:avLst/>
          </a:prstGeom>
        </p:spPr>
        <p:txBody>
          <a:bodyPr/>
          <a:lstStyle/>
          <a:p>
            <a:pPr defTabSz="402336">
              <a:spcBef>
                <a:spcPts val="1000"/>
              </a:spcBef>
              <a:defRPr sz="352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1. Finalize Data Ingestion</a:t>
            </a:r>
            <a:endParaRPr b="0"/>
          </a:p>
          <a:p>
            <a:pPr marL="402336" indent="-279400" defTabSz="402336">
              <a:spcBef>
                <a:spcPts val="1000"/>
              </a:spcBef>
              <a:buSzPct val="100000"/>
              <a:buFont typeface="Times Roman"/>
              <a:buChar char="•"/>
              <a:defRPr b="0" sz="352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Load CSVs into Spark DataFrames</a:t>
            </a:r>
            <a:r>
              <a:t>: Ingest Kaggle flight delay files (2019–2023) into Spark.</a:t>
            </a:r>
          </a:p>
          <a:p>
            <a:pPr marL="402336" indent="-279400" defTabSz="402336">
              <a:spcBef>
                <a:spcPts val="1000"/>
              </a:spcBef>
              <a:buSzPct val="100000"/>
              <a:buFont typeface="Times Roman"/>
              <a:buChar char="•"/>
              <a:defRPr b="0" sz="352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Define Explicit Schemas</a:t>
            </a:r>
            <a:r>
              <a:t>: Avoid relying on Spark’s auto-inference to prevent incorrect data types (e.g., times parsed as strings).</a:t>
            </a:r>
          </a:p>
          <a:p>
            <a:pPr marL="402336" indent="-279400" defTabSz="402336">
              <a:spcBef>
                <a:spcPts val="1000"/>
              </a:spcBef>
              <a:buSzPct val="100000"/>
              <a:buFont typeface="Times Roman"/>
              <a:buChar char="•"/>
              <a:defRPr b="0" sz="352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Handle Missing/Null Values</a:t>
            </a:r>
            <a:r>
              <a:t>: Filter or impute cancelled flights and incomplete records; flag “unknown” delay causes.</a:t>
            </a:r>
          </a:p>
          <a:p>
            <a:pPr marL="402336" indent="-279400" defTabSz="402336">
              <a:spcBef>
                <a:spcPts val="1000"/>
              </a:spcBef>
              <a:buSzPct val="100000"/>
              <a:buFont typeface="Times Roman"/>
              <a:buChar char="•"/>
              <a:defRPr b="0" sz="352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Save in Parquet Format</a:t>
            </a:r>
            <a:r>
              <a:t>: Store cleaned datasets in Parquet for efficient querying, compression, and partitioning.</a:t>
            </a:r>
          </a:p>
          <a:p>
            <a:pPr defTabSz="402336">
              <a:spcBef>
                <a:spcPts val="1000"/>
              </a:spcBef>
              <a:defRPr sz="352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2. Exploratory Data Analysis (EDA)</a:t>
            </a:r>
            <a:endParaRPr b="0"/>
          </a:p>
          <a:p>
            <a:pPr marL="402336" indent="-279400" defTabSz="402336">
              <a:spcBef>
                <a:spcPts val="1000"/>
              </a:spcBef>
              <a:buSzPct val="100000"/>
              <a:buFont typeface="Times Roman"/>
              <a:buChar char="•"/>
              <a:defRPr b="0" sz="352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Delay Distributions</a:t>
            </a:r>
            <a:r>
              <a:t>: Plot histograms and boxplots of departure/arrival delays.</a:t>
            </a:r>
          </a:p>
          <a:p>
            <a:pPr marL="402336" indent="-279400" defTabSz="402336">
              <a:spcBef>
                <a:spcPts val="1000"/>
              </a:spcBef>
              <a:buSzPct val="100000"/>
              <a:buFont typeface="Times Roman"/>
              <a:buChar char="•"/>
              <a:defRPr b="0" sz="352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By Airline, Airport, and Route</a:t>
            </a:r>
            <a:r>
              <a:t>: Compare performance across carriers and airports.</a:t>
            </a:r>
          </a:p>
          <a:p>
            <a:pPr marL="402336" indent="-279400" defTabSz="402336">
              <a:spcBef>
                <a:spcPts val="1000"/>
              </a:spcBef>
              <a:buSzPct val="100000"/>
              <a:buFont typeface="Times Roman"/>
              <a:buChar char="•"/>
              <a:defRPr sz="352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Seasonality &amp; Time Patterns</a:t>
            </a:r>
            <a:r>
              <a:rPr b="0"/>
              <a:t>: Study average delays by </a:t>
            </a:r>
            <a:r>
              <a:t>month, day-of-week, and hour of day</a:t>
            </a:r>
            <a:r>
              <a:rPr b="0"/>
              <a:t>.</a:t>
            </a:r>
            <a:endParaRPr b="0"/>
          </a:p>
          <a:p>
            <a:pPr marL="402336" indent="-279400" defTabSz="402336">
              <a:spcBef>
                <a:spcPts val="1000"/>
              </a:spcBef>
              <a:buSzPct val="100000"/>
              <a:buFont typeface="Times Roman"/>
              <a:buChar char="•"/>
              <a:defRPr b="0" sz="352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Cancellations &amp; Diversions</a:t>
            </a:r>
            <a:r>
              <a:t>: Identify trends in cancelled or diverted flights and their seasonal/airport-level patterns.</a:t>
            </a:r>
          </a:p>
          <a:p>
            <a:pPr marL="402336" indent="-279400" defTabSz="402336">
              <a:spcBef>
                <a:spcPts val="1000"/>
              </a:spcBef>
              <a:buSzPct val="100000"/>
              <a:buFont typeface="Times Roman"/>
              <a:buChar char="•"/>
              <a:defRPr b="0" sz="352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Top Problem Areas</a:t>
            </a:r>
            <a:r>
              <a:t>: Highlight the most delay-prone routes and airports.</a:t>
            </a:r>
          </a:p>
          <a:p>
            <a:pPr marL="402336" indent="-279400" defTabSz="402336">
              <a:spcBef>
                <a:spcPts val="1000"/>
              </a:spcBef>
              <a:buSzPct val="100000"/>
              <a:buFont typeface="Times Roman"/>
              <a:buChar char="•"/>
              <a:defRPr b="0" sz="352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Visual Outputs</a:t>
            </a:r>
            <a:r>
              <a:t>: Generate clear summary tables and graphs (bar charts, line plots, heatmaps) for check-in presentation.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itle 1"/>
          <p:cNvSpPr txBox="1"/>
          <p:nvPr>
            <p:ph type="ctrTitle"/>
          </p:nvPr>
        </p:nvSpPr>
        <p:spPr>
          <a:xfrm>
            <a:off x="1206498" y="456645"/>
            <a:ext cx="21971004" cy="1734576"/>
          </a:xfrm>
          <a:prstGeom prst="rect">
            <a:avLst/>
          </a:prstGeom>
        </p:spPr>
        <p:txBody>
          <a:bodyPr/>
          <a:lstStyle>
            <a:lvl1pPr defTabSz="2243271">
              <a:defRPr spc="-213" sz="10672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Future Action Items: Roadmap</a:t>
            </a:r>
          </a:p>
        </p:txBody>
      </p:sp>
      <p:sp>
        <p:nvSpPr>
          <p:cNvPr id="194" name="Content Placeholder 2"/>
          <p:cNvSpPr txBox="1"/>
          <p:nvPr>
            <p:ph type="subTitle" idx="1"/>
          </p:nvPr>
        </p:nvSpPr>
        <p:spPr>
          <a:xfrm>
            <a:off x="1201342" y="2219732"/>
            <a:ext cx="21971001" cy="10649922"/>
          </a:xfrm>
          <a:prstGeom prst="rect">
            <a:avLst/>
          </a:prstGeom>
        </p:spPr>
        <p:txBody>
          <a:bodyPr/>
          <a:lstStyle/>
          <a:p>
            <a:pPr defTabSz="443484">
              <a:spcBef>
                <a:spcPts val="1100"/>
              </a:spcBef>
              <a:defRPr sz="339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Advanced Feature Engineering</a:t>
            </a:r>
          </a:p>
          <a:p>
            <a:pPr marL="443484" indent="-307975" defTabSz="443484">
              <a:spcBef>
                <a:spcPts val="1100"/>
              </a:spcBef>
              <a:buSzPct val="100000"/>
              <a:buFont typeface="Times Roman"/>
              <a:buChar char="•"/>
              <a:defRPr b="0" sz="339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Compute rolling averages and trends of delays by route, airport, and carrier.</a:t>
            </a:r>
          </a:p>
          <a:p>
            <a:pPr marL="443484" indent="-307975" defTabSz="443484">
              <a:spcBef>
                <a:spcPts val="1100"/>
              </a:spcBef>
              <a:buSzPct val="100000"/>
              <a:buFont typeface="Times Roman"/>
              <a:buChar char="•"/>
              <a:defRPr b="0" sz="339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Add holiday/weekend flags and seasonal indicators to capture peak travel effects.</a:t>
            </a:r>
          </a:p>
          <a:p>
            <a:pPr marL="443484" indent="-307975" defTabSz="443484">
              <a:spcBef>
                <a:spcPts val="1100"/>
              </a:spcBef>
              <a:buSzPct val="100000"/>
              <a:buFont typeface="Times Roman"/>
              <a:buChar char="•"/>
              <a:defRPr b="0" sz="339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i="1"/>
              <a:t>(Stretch Goal)</a:t>
            </a:r>
            <a:r>
              <a:t> Join with external weather datasets (precipitation, wind, storms) for richer predictive power.</a:t>
            </a:r>
          </a:p>
          <a:p>
            <a:pPr defTabSz="443484">
              <a:spcBef>
                <a:spcPts val="1100"/>
              </a:spcBef>
              <a:defRPr sz="339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Model Development &amp; Evaluation</a:t>
            </a:r>
          </a:p>
          <a:p>
            <a:pPr marL="443484" indent="-307975" defTabSz="443484">
              <a:spcBef>
                <a:spcPts val="1100"/>
              </a:spcBef>
              <a:buSzPct val="100000"/>
              <a:buFont typeface="Times Roman"/>
              <a:buChar char="•"/>
              <a:defRPr b="0" sz="339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Train and test regression models (delay minutes) and classification models (risk of 15+ min delay).</a:t>
            </a:r>
          </a:p>
          <a:p>
            <a:pPr marL="443484" indent="-307975" defTabSz="443484">
              <a:spcBef>
                <a:spcPts val="1100"/>
              </a:spcBef>
              <a:buSzPct val="100000"/>
              <a:buFont typeface="Times Roman"/>
              <a:buChar char="•"/>
              <a:defRPr b="0" sz="339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Evaluate using RMSE/MAE for regression and PR-AUC/F1 for classification.</a:t>
            </a:r>
          </a:p>
          <a:p>
            <a:pPr marL="443484" indent="-307975" defTabSz="443484">
              <a:spcBef>
                <a:spcPts val="1100"/>
              </a:spcBef>
              <a:buSzPct val="100000"/>
              <a:buFont typeface="Times Roman"/>
              <a:buChar char="•"/>
              <a:defRPr b="0" sz="339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Document feature importance and ensure model explainability for operational insights.</a:t>
            </a:r>
          </a:p>
          <a:p>
            <a:pPr defTabSz="443484">
              <a:spcBef>
                <a:spcPts val="1100"/>
              </a:spcBef>
              <a:defRPr sz="339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Streaming Pipeline</a:t>
            </a:r>
          </a:p>
          <a:p>
            <a:pPr marL="443484" indent="-307975" defTabSz="443484">
              <a:spcBef>
                <a:spcPts val="1100"/>
              </a:spcBef>
              <a:buSzPct val="100000"/>
              <a:buFont typeface="Times Roman"/>
              <a:buChar char="•"/>
              <a:defRPr b="0" sz="339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Use Spark Structured Streaming to simulate real-time flight event feeds.</a:t>
            </a:r>
          </a:p>
          <a:p>
            <a:pPr marL="443484" indent="-307975" defTabSz="443484">
              <a:spcBef>
                <a:spcPts val="1100"/>
              </a:spcBef>
              <a:buSzPct val="100000"/>
              <a:buFont typeface="Times Roman"/>
              <a:buChar char="•"/>
              <a:defRPr b="0" sz="339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Maintain rolling dashboards showing delay rates per airport and airline.</a:t>
            </a:r>
          </a:p>
          <a:p>
            <a:pPr marL="443484" indent="-307975" defTabSz="443484">
              <a:spcBef>
                <a:spcPts val="1100"/>
              </a:spcBef>
              <a:buSzPct val="100000"/>
              <a:buFont typeface="Times Roman"/>
              <a:buChar char="•"/>
              <a:defRPr b="0" sz="339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Implement real-time alerts when high-risk delays cross threshold levels.</a:t>
            </a:r>
          </a:p>
          <a:p>
            <a:pPr defTabSz="443484">
              <a:spcBef>
                <a:spcPts val="1100"/>
              </a:spcBef>
              <a:defRPr sz="339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Performance &amp; Reproducibility</a:t>
            </a:r>
          </a:p>
          <a:p>
            <a:pPr marL="443484" indent="-307975" defTabSz="443484">
              <a:spcBef>
                <a:spcPts val="1100"/>
              </a:spcBef>
              <a:buSzPct val="100000"/>
              <a:buFont typeface="Times Roman"/>
              <a:buChar char="•"/>
              <a:defRPr b="0" sz="339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Optimize Spark with partitioning, caching, and broadcast joins to handle scale efficiently.</a:t>
            </a:r>
          </a:p>
          <a:p>
            <a:pPr marL="443484" indent="-307975" defTabSz="443484">
              <a:spcBef>
                <a:spcPts val="1100"/>
              </a:spcBef>
              <a:buSzPct val="100000"/>
              <a:buFont typeface="Times Roman"/>
              <a:buChar char="•"/>
              <a:defRPr b="0" sz="339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Provide reproducibility through scripts (run.sh, Makefile) for one-click execution.</a:t>
            </a:r>
          </a:p>
          <a:p>
            <a:pPr marL="443484" indent="-307975" defTabSz="443484">
              <a:spcBef>
                <a:spcPts val="1100"/>
              </a:spcBef>
              <a:buSzPct val="100000"/>
              <a:buFont typeface="Times Roman"/>
              <a:buChar char="•"/>
              <a:defRPr b="0" sz="339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Ensure the pipeline is robust, scalable, and ready for final demo.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itle 1"/>
          <p:cNvSpPr txBox="1"/>
          <p:nvPr>
            <p:ph type="ctrTitle"/>
          </p:nvPr>
        </p:nvSpPr>
        <p:spPr>
          <a:xfrm>
            <a:off x="1206498" y="475083"/>
            <a:ext cx="21971004" cy="2027882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197" name="Content Placeholder 2"/>
          <p:cNvSpPr txBox="1"/>
          <p:nvPr>
            <p:ph type="subTitle" idx="1"/>
          </p:nvPr>
        </p:nvSpPr>
        <p:spPr>
          <a:xfrm>
            <a:off x="1201342" y="3017799"/>
            <a:ext cx="21971001" cy="8945455"/>
          </a:xfrm>
          <a:prstGeom prst="rect">
            <a:avLst/>
          </a:prstGeom>
        </p:spPr>
        <p:txBody>
          <a:bodyPr/>
          <a:lstStyle/>
          <a:p>
            <a:pPr defTabSz="457200">
              <a:spcBef>
                <a:spcPts val="1200"/>
              </a:spcBef>
              <a:defRPr b="0" sz="5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Value of Check-ins</a:t>
            </a:r>
            <a:br/>
            <a:r>
              <a:t>Regular updates help identify blockers early, align the team with milestones, and keep the project on track.</a:t>
            </a:r>
          </a:p>
          <a:p>
            <a:pPr defTabSz="457200">
              <a:spcBef>
                <a:spcPts val="1200"/>
              </a:spcBef>
              <a:defRPr b="0" sz="5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Dataset Strength</a:t>
            </a:r>
            <a:br/>
            <a:r>
              <a:t>The chosen flight delay dataset is scalable, feature-rich, and well-suited for Spark SQL, Streaming, and MLlib tasks.</a:t>
            </a:r>
          </a:p>
          <a:p>
            <a:pPr defTabSz="457200">
              <a:spcBef>
                <a:spcPts val="1200"/>
              </a:spcBef>
              <a:defRPr b="0" sz="5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Next Steps</a:t>
            </a:r>
            <a:br/>
            <a:r>
              <a:t>Focus on data ingestion and exploratory analysis (EDA) to prepare cleaned datasets and first visual insights.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HANKYOU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pc="-412" sz="206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THANKYOU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